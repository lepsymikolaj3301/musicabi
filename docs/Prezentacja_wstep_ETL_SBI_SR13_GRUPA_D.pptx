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</p:sldIdLst>
  <p:sldSz cx="12192000" cy="6858000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1D09"/>
    <a:srgbClr val="A7190E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75545" autoAdjust="0"/>
  </p:normalViewPr>
  <p:slideViewPr>
    <p:cSldViewPr snapToObjects="1">
      <p:cViewPr varScale="1">
        <p:scale>
          <a:sx n="83" d="100"/>
          <a:sy n="83" d="100"/>
        </p:scale>
        <p:origin x="7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410370A-4EA9-4720-9F5E-1510D96B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30C2684-42A7-4DF6-9FE1-7001D18670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8051A36-CCDA-46D6-8751-4C8D74526861}" type="datetimeFigureOut">
              <a:rPr lang="pl-PL"/>
              <a:pPr>
                <a:defRPr/>
              </a:pPr>
              <a:t>12.05.2026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CFDFD6-3813-49B7-BB0F-191E9B212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82F540B-711C-459B-8E06-9C4104A3CF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8F4FCD9-BA7F-48A7-B3B3-82ADBA7B3B21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D818A71B-DC1F-408C-B3D1-E849FB7B4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C2135F-0056-4A00-9936-7DC2A5ED36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958589B-E6FC-4863-935D-DE3851DA945C}" type="datetimeFigureOut">
              <a:rPr lang="pl-PL"/>
              <a:pPr>
                <a:defRPr/>
              </a:pPr>
              <a:t>12.05.2026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2A0AA2D0-0220-4B41-946E-A13520E0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ED235504-81E4-44E6-8904-ECD328F55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D310A0-03E4-4B1C-8E07-370908C2D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4850364-4A0B-4F60-93B9-58F4EA96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580E2B2-3987-459E-9E73-FCE4CF2EC872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Projekt jest inspirowany realnym procesem A&amp;R (</a:t>
            </a:r>
            <a:r>
              <a:rPr lang="pl-PL" dirty="0" err="1"/>
              <a:t>Artists</a:t>
            </a:r>
            <a:r>
              <a:rPr lang="pl-PL" dirty="0"/>
              <a:t> &amp; </a:t>
            </a:r>
            <a:r>
              <a:rPr lang="pl-PL" dirty="0" err="1"/>
              <a:t>Repertoire</a:t>
            </a:r>
            <a:r>
              <a:rPr lang="pl-PL" dirty="0"/>
              <a:t>), który istnieje w branży muzycznej.</a:t>
            </a:r>
            <a:br>
              <a:rPr lang="pl-PL" dirty="0"/>
            </a:br>
            <a:r>
              <a:rPr lang="pl-PL" dirty="0" err="1"/>
              <a:t>Label</a:t>
            </a:r>
            <a:r>
              <a:rPr lang="pl-PL" dirty="0"/>
              <a:t> muzyczny chce znaleźć artystę:</a:t>
            </a:r>
          </a:p>
          <a:p>
            <a:r>
              <a:rPr lang="pl-PL" dirty="0"/>
              <a:t>zanim stanie się </a:t>
            </a:r>
            <a:r>
              <a:rPr lang="pl-PL" dirty="0" err="1"/>
              <a:t>mainstreamowy</a:t>
            </a:r>
            <a:r>
              <a:rPr lang="pl-PL" dirty="0"/>
              <a:t>, </a:t>
            </a:r>
          </a:p>
          <a:p>
            <a:r>
              <a:rPr lang="pl-PL" dirty="0"/>
              <a:t>ale już wykazuje silny wzrost popularności i zainteresowania. </a:t>
            </a:r>
          </a:p>
          <a:p>
            <a:r>
              <a:rPr lang="pl-PL" dirty="0"/>
              <a:t>System ma wspierać podejmowanie takich decyzji na podstawie danych historycznych i trendów.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2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88531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Dodatkowi użytkownicy:</a:t>
            </a:r>
          </a:p>
          <a:p>
            <a:r>
              <a:rPr lang="pl-PL" dirty="0"/>
              <a:t>analitycy rynku muzycznego, </a:t>
            </a:r>
          </a:p>
          <a:p>
            <a:r>
              <a:rPr lang="pl-PL" dirty="0"/>
              <a:t>managerowie artystów, </a:t>
            </a:r>
          </a:p>
          <a:p>
            <a:r>
              <a:rPr lang="pl-PL" dirty="0"/>
              <a:t>zespoły marketingowe.</a:t>
            </a:r>
          </a:p>
          <a:p>
            <a:endParaRPr lang="pl-PL" dirty="0"/>
          </a:p>
          <a:p>
            <a:r>
              <a:rPr lang="pl-PL" b="1" dirty="0"/>
              <a:t>Komentarz dla prezentującego</a:t>
            </a:r>
          </a:p>
          <a:p>
            <a:r>
              <a:rPr lang="pl-PL" dirty="0"/>
              <a:t>A&amp;R to dział odpowiedzialny za </a:t>
            </a:r>
            <a:r>
              <a:rPr lang="pl-PL" dirty="0" err="1"/>
              <a:t>scouting</a:t>
            </a:r>
            <a:r>
              <a:rPr lang="pl-PL" dirty="0"/>
              <a:t> talentów.</a:t>
            </a:r>
            <a:br>
              <a:rPr lang="pl-PL" dirty="0"/>
            </a:br>
            <a:r>
              <a:rPr lang="pl-PL" dirty="0"/>
              <a:t>W praktyce analizują oni:</a:t>
            </a:r>
          </a:p>
          <a:p>
            <a:r>
              <a:rPr lang="pl-PL" dirty="0"/>
              <a:t>popularność, </a:t>
            </a:r>
          </a:p>
          <a:p>
            <a:r>
              <a:rPr lang="pl-PL" dirty="0"/>
              <a:t>wzrost zainteresowania, </a:t>
            </a:r>
          </a:p>
          <a:p>
            <a:r>
              <a:rPr lang="pl-PL" dirty="0"/>
              <a:t>aktywność fanów, </a:t>
            </a:r>
          </a:p>
          <a:p>
            <a:r>
              <a:rPr lang="pl-PL" dirty="0"/>
              <a:t>potencjał komercyjny. </a:t>
            </a:r>
          </a:p>
          <a:p>
            <a:r>
              <a:rPr lang="pl-PL" dirty="0"/>
              <a:t>Projekt ma symulować taki proces decyzyjny.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4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257955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Komentarz dla prezentującego</a:t>
            </a:r>
          </a:p>
          <a:p>
            <a:r>
              <a:rPr lang="pl-PL" dirty="0"/>
              <a:t>Kluczowe jest nie tylko „kto jest popularny”, ale:</a:t>
            </a:r>
          </a:p>
          <a:p>
            <a:r>
              <a:rPr lang="pl-PL" dirty="0"/>
              <a:t>kto rośnie najszybciej, </a:t>
            </a:r>
          </a:p>
          <a:p>
            <a:r>
              <a:rPr lang="pl-PL" dirty="0"/>
              <a:t>kto ma stabilny wzrost, </a:t>
            </a:r>
          </a:p>
          <a:p>
            <a:r>
              <a:rPr lang="pl-PL" dirty="0"/>
              <a:t>kto może być przyszłym sukcesem biznesowym. </a:t>
            </a:r>
          </a:p>
          <a:p>
            <a:r>
              <a:rPr lang="pl-PL" dirty="0"/>
              <a:t>Projekt skupia się bardziej na wykrywaniu trendów niż na samej popularności.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5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029417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Komentarz dla prezentującego</a:t>
            </a:r>
          </a:p>
          <a:p>
            <a:r>
              <a:rPr lang="pl-PL" dirty="0"/>
              <a:t>Większość danych jest pół-dynamiczna:</a:t>
            </a:r>
          </a:p>
          <a:p>
            <a:r>
              <a:rPr lang="pl-PL" dirty="0"/>
              <a:t>trendy zmieniają się codziennie, </a:t>
            </a:r>
          </a:p>
          <a:p>
            <a:r>
              <a:rPr lang="pl-PL" dirty="0" err="1"/>
              <a:t>metadata</a:t>
            </a:r>
            <a:r>
              <a:rPr lang="pl-PL" dirty="0"/>
              <a:t> zmieniają się rzadziej. </a:t>
            </a:r>
          </a:p>
          <a:p>
            <a:r>
              <a:rPr lang="pl-PL" dirty="0"/>
              <a:t>Google </a:t>
            </a:r>
            <a:r>
              <a:rPr lang="pl-PL" dirty="0" err="1"/>
              <a:t>Trends</a:t>
            </a:r>
            <a:r>
              <a:rPr lang="pl-PL" dirty="0"/>
              <a:t> i Last.fm są szczególnie ważne do wykrywania nagłych wzrostów popularności.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9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787581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Komentarz dla prezentującego</a:t>
            </a:r>
          </a:p>
          <a:p>
            <a:r>
              <a:rPr lang="pl-PL" dirty="0"/>
              <a:t>Tabela faktów NIE opisuje pojedynczego albumu ani utworu.</a:t>
            </a:r>
          </a:p>
          <a:p>
            <a:r>
              <a:rPr lang="pl-PL" dirty="0"/>
              <a:t>Najważniejszym procesem biznesowym jest:</a:t>
            </a:r>
          </a:p>
          <a:p>
            <a:r>
              <a:rPr lang="pl-PL" dirty="0"/>
              <a:t>obserwacja zmian popularności artysty w czasie.</a:t>
            </a:r>
          </a:p>
          <a:p>
            <a:r>
              <a:rPr lang="pl-PL" dirty="0"/>
              <a:t>Dlatego najlepszym </a:t>
            </a:r>
            <a:r>
              <a:rPr lang="pl-PL" dirty="0" err="1"/>
              <a:t>grainem</a:t>
            </a:r>
            <a:r>
              <a:rPr lang="pl-PL" dirty="0"/>
              <a:t> tabeli faktów jest:</a:t>
            </a:r>
          </a:p>
          <a:p>
            <a:r>
              <a:rPr lang="pl-PL" dirty="0"/>
              <a:t>1 artysta </a:t>
            </a:r>
          </a:p>
          <a:p>
            <a:r>
              <a:rPr lang="pl-PL" dirty="0"/>
              <a:t>1 dzień. </a:t>
            </a:r>
          </a:p>
          <a:p>
            <a:r>
              <a:rPr lang="pl-PL" dirty="0"/>
              <a:t>To umożliwia:</a:t>
            </a:r>
          </a:p>
          <a:p>
            <a:r>
              <a:rPr lang="pl-PL" dirty="0"/>
              <a:t>analizę trendów, </a:t>
            </a:r>
          </a:p>
          <a:p>
            <a:r>
              <a:rPr lang="pl-PL" dirty="0"/>
              <a:t>wzrostów, </a:t>
            </a:r>
          </a:p>
          <a:p>
            <a:r>
              <a:rPr lang="pl-PL" dirty="0" err="1"/>
              <a:t>momentum</a:t>
            </a:r>
            <a:r>
              <a:rPr lang="pl-PL" dirty="0"/>
              <a:t>, </a:t>
            </a:r>
          </a:p>
          <a:p>
            <a:r>
              <a:rPr lang="pl-PL" dirty="0"/>
              <a:t>rankingów.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11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58988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Komentarz dla prezentującego</a:t>
            </a:r>
          </a:p>
          <a:p>
            <a:r>
              <a:rPr lang="pl-PL" dirty="0"/>
              <a:t>Model będzie oparty o star </a:t>
            </a:r>
            <a:r>
              <a:rPr lang="pl-PL" dirty="0" err="1"/>
              <a:t>schema</a:t>
            </a:r>
            <a:r>
              <a:rPr lang="pl-PL" dirty="0"/>
              <a:t>:</a:t>
            </a:r>
          </a:p>
          <a:p>
            <a:r>
              <a:rPr lang="pl-PL" dirty="0"/>
              <a:t>centralna tabela faktów, </a:t>
            </a:r>
          </a:p>
          <a:p>
            <a:r>
              <a:rPr lang="pl-PL" dirty="0"/>
              <a:t>kilka wymiarów opisujących artystę i kontekst. </a:t>
            </a:r>
          </a:p>
          <a:p>
            <a:r>
              <a:rPr lang="pl-PL" dirty="0"/>
              <a:t>Najważniejsze wymiary:</a:t>
            </a:r>
          </a:p>
          <a:p>
            <a:r>
              <a:rPr lang="pl-PL" dirty="0"/>
              <a:t>czas, </a:t>
            </a:r>
          </a:p>
          <a:p>
            <a:r>
              <a:rPr lang="pl-PL" dirty="0"/>
              <a:t>artysta, </a:t>
            </a:r>
          </a:p>
          <a:p>
            <a:r>
              <a:rPr lang="pl-PL" dirty="0"/>
              <a:t>gatunek.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12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69289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Komentarz dla prezentującego</a:t>
            </a:r>
          </a:p>
          <a:p>
            <a:r>
              <a:rPr lang="pl-PL" dirty="0"/>
              <a:t>Finalny </a:t>
            </a:r>
            <a:r>
              <a:rPr lang="pl-PL" dirty="0" err="1"/>
              <a:t>dashboard</a:t>
            </a:r>
            <a:r>
              <a:rPr lang="pl-PL" dirty="0"/>
              <a:t> ma przypominać uproszczony system typu </a:t>
            </a:r>
            <a:r>
              <a:rPr lang="pl-PL" dirty="0" err="1"/>
              <a:t>music</a:t>
            </a:r>
            <a:r>
              <a:rPr lang="pl-PL" dirty="0"/>
              <a:t> </a:t>
            </a:r>
            <a:r>
              <a:rPr lang="pl-PL" dirty="0" err="1"/>
              <a:t>intelligence</a:t>
            </a:r>
            <a:r>
              <a:rPr lang="pl-PL" dirty="0"/>
              <a:t> / A&amp;R </a:t>
            </a:r>
            <a:r>
              <a:rPr lang="pl-PL" dirty="0" err="1"/>
              <a:t>analytics</a:t>
            </a:r>
            <a:r>
              <a:rPr lang="pl-PL" dirty="0"/>
              <a:t>.</a:t>
            </a:r>
          </a:p>
          <a:p>
            <a:r>
              <a:rPr lang="pl-PL" dirty="0"/>
              <a:t>Najważniejszym elementem będzie:</a:t>
            </a:r>
          </a:p>
          <a:p>
            <a:r>
              <a:rPr lang="pl-PL" dirty="0"/>
              <a:t>możliwość obserwacji trendów w czasie, </a:t>
            </a:r>
          </a:p>
          <a:p>
            <a:r>
              <a:rPr lang="pl-PL" dirty="0"/>
              <a:t>ranking artystów, </a:t>
            </a:r>
          </a:p>
          <a:p>
            <a:r>
              <a:rPr lang="pl-PL" dirty="0"/>
              <a:t>identyfikacja przyszłych </a:t>
            </a:r>
            <a:r>
              <a:rPr lang="pl-PL" dirty="0" err="1"/>
              <a:t>breakoutów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14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79937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38B1951-AD23-4425-9B6F-B6FE41B8412E}"/>
              </a:ext>
            </a:extLst>
          </p:cNvPr>
          <p:cNvSpPr txBox="1">
            <a:spLocks/>
          </p:cNvSpPr>
          <p:nvPr/>
        </p:nvSpPr>
        <p:spPr bwMode="auto">
          <a:xfrm>
            <a:off x="387351" y="2420939"/>
            <a:ext cx="11521016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sz="4000" kern="0" dirty="0">
              <a:latin typeface="Calibri" panose="020F050202020403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8D5811-6A0A-468C-90DC-4B945CF4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988840"/>
            <a:ext cx="10152536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F1A1287-80D1-49F2-BADB-63A496BF1E38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2C47AA24-DEFC-42F7-9344-2792C6EB5D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19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699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554F3A11-EEA8-42B0-904A-8D56848B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6272226" y="2492896"/>
            <a:ext cx="575184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16632"/>
            <a:ext cx="4224469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6272226" y="116632"/>
            <a:ext cx="575184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6272225" y="3861048"/>
            <a:ext cx="5751843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44D2146-237E-446E-96A3-073E895DF9EF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AE9F8729-CB38-4705-BC57-D32B8B1B9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23" name="Prostokąt 22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88388" y="5013176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24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61191" y="5734137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32" y="5162692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04369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4">
            <a:extLst>
              <a:ext uri="{FF2B5EF4-FFF2-40B4-BE49-F238E27FC236}">
                <a16:creationId xmlns:a16="http://schemas.microsoft.com/office/drawing/2014/main" id="{C86E8BA2-DF0C-4553-ABEE-2AA703CA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7CBBD8-F20F-4CFA-A1C0-A2BD928C98EE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92C32551-02FA-4391-BD24-420530585A4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C303F6B8-DC1A-451A-B7C8-76DEF78CD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1775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446A836-1F6A-44FD-A507-72760F9AD1E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8C20DE13-7457-4626-BE75-0D6CC48F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E4C6FF5-B562-440C-B37F-2991087E69D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4" y="1844824"/>
            <a:ext cx="4896545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6095238" y="1844824"/>
            <a:ext cx="5953423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3" y="1120626"/>
            <a:ext cx="11041227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EAFB6B00-2019-4AD7-82E4-7DCE973AB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53814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85B50D36-29A4-4384-AB09-BBD22698996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3ECACFEE-8855-436E-B24A-E1DC4A4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F1D416BD-FDA9-41E2-9ABB-44EC43B1E1FC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4" y="1628801"/>
            <a:ext cx="537659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576054" y="1628801"/>
            <a:ext cx="547767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44624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3" y="548680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3824B075-17CA-4CAF-B059-6272213C2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5439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 12">
            <a:extLst>
              <a:ext uri="{FF2B5EF4-FFF2-40B4-BE49-F238E27FC236}">
                <a16:creationId xmlns:a16="http://schemas.microsoft.com/office/drawing/2014/main" id="{C6E2C7D1-3BD9-4A24-B4CF-104AFC655614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4">
            <a:extLst>
              <a:ext uri="{FF2B5EF4-FFF2-40B4-BE49-F238E27FC236}">
                <a16:creationId xmlns:a16="http://schemas.microsoft.com/office/drawing/2014/main" id="{719BE861-94A7-4968-91BA-65140916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B2396A7-488D-4B29-B27E-B1F82536D5B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A62151E8-16EA-4C9B-BE36-3955B91A3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39376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A3CF7106-AAC5-4336-AEA0-B600B7DBB6D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CB9EE27C-4280-4699-B0FB-00C29EC0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0900F33-D32C-4F5F-BC7D-BCD466A03069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1424" y="116632"/>
            <a:ext cx="4416491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9936" y="116632"/>
            <a:ext cx="6528725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1424" y="1435100"/>
            <a:ext cx="4416491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9125962-42A1-4453-833C-33FF69F7EE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315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FAC1082C-5AA9-4C8A-9F4F-BC1FBB2899FF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38114D0A-9A9F-4AC0-AB2B-9D7ECEC1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70C72BC-1685-4E5C-9AB7-8C22C053D08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526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5" y="283"/>
            <a:ext cx="11184061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00526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BF0F1EC3-0F5E-4C45-8FAD-72B567C418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31103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3BFB7953-19B6-41F5-AAD5-D23DCF4695E6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76E1DE-8E59-4FAF-828C-A1E3A9F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2378A4F9-4C6D-448A-9C2B-718DC76E7A0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07435" y="116632"/>
            <a:ext cx="11041227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772817"/>
            <a:ext cx="11041227" cy="496855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438BA98-E092-4BD0-BCD1-4BCE3BDD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643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B33CD6CA-CE75-4C42-A1BA-022400A1DA83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D3AAED1-1E56-4E0F-BA47-B297E2E3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EFA466E-1A63-45EC-9BBE-3350A790265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116632"/>
            <a:ext cx="3209461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16632"/>
            <a:ext cx="7628565" cy="66967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4CC311B-E0AF-4A4C-8EF3-A10DB162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3645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A9D2542B-478A-4E26-A12F-4232999A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4" y="115888"/>
            <a:ext cx="11040533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201AC01-9E6A-4CE5-A822-FEB3753C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773239"/>
            <a:ext cx="1104053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st.fm/api" TargetMode="External"/><Relationship Id="rId2" Type="http://schemas.openxmlformats.org/officeDocument/2006/relationships/hyperlink" Target="https://developer.spotify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usicbrainz.org/doc/MusicBrainz_API" TargetMode="External"/><Relationship Id="rId4" Type="http://schemas.openxmlformats.org/officeDocument/2006/relationships/hyperlink" Target="https://trends.google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C8470A-D0D2-4ECC-A4D3-F4CC7849E82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6741368"/>
          </a:xfrm>
        </p:spPr>
        <p:txBody>
          <a:bodyPr/>
          <a:lstStyle/>
          <a:p>
            <a:pPr algn="ctr"/>
            <a:r>
              <a:rPr lang="pl-PL" dirty="0" err="1"/>
              <a:t>MusicaBI</a:t>
            </a:r>
            <a:r>
              <a:rPr lang="pl-PL" dirty="0"/>
              <a:t> – Projekt BI</a:t>
            </a:r>
          </a:p>
          <a:p>
            <a:pPr algn="ctr"/>
            <a:r>
              <a:rPr lang="pl-PL" sz="3400" b="0" i="1" dirty="0" err="1"/>
              <a:t>Miniprojekt</a:t>
            </a:r>
            <a:r>
              <a:rPr lang="pl-PL" sz="3400" b="0" i="1" dirty="0"/>
              <a:t> – systemy Business </a:t>
            </a:r>
            <a:r>
              <a:rPr lang="pl-PL" sz="3400" b="0" i="1" dirty="0" err="1"/>
              <a:t>Intelligence</a:t>
            </a:r>
            <a:endParaRPr lang="pl-PL" sz="3400" b="0" i="1" dirty="0"/>
          </a:p>
          <a:p>
            <a:pPr algn="ctr"/>
            <a:r>
              <a:rPr lang="pl-PL" sz="2000" b="0" dirty="0"/>
              <a:t>Paola Jaroń, Mikołaj Lepsy, Weronika Kaźmierczak, Adam </a:t>
            </a:r>
            <a:r>
              <a:rPr lang="pl-PL" sz="2000" b="0" dirty="0" err="1"/>
              <a:t>Basiewicz</a:t>
            </a:r>
            <a:endParaRPr lang="pl-PL" sz="2000" b="0" dirty="0"/>
          </a:p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19901615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B531311F-57CF-3BEA-DD8B-1E161D9B6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System wspiera analizę rynku muzycznego w celu:</a:t>
            </a:r>
          </a:p>
          <a:p>
            <a:r>
              <a:rPr lang="pl-PL" dirty="0"/>
              <a:t>identyfikacji </a:t>
            </a:r>
            <a:r>
              <a:rPr lang="pl-PL" dirty="0" err="1"/>
              <a:t>trendujących</a:t>
            </a:r>
            <a:r>
              <a:rPr lang="pl-PL" dirty="0"/>
              <a:t> artystów</a:t>
            </a:r>
          </a:p>
          <a:p>
            <a:r>
              <a:rPr lang="pl-PL" dirty="0"/>
              <a:t>wykrywania „undergroundowych” twórców z dużym potencjałem wzrostu</a:t>
            </a:r>
          </a:p>
          <a:p>
            <a:r>
              <a:rPr lang="pl-PL" dirty="0"/>
              <a:t>analizy sukcesu albumów i utworów</a:t>
            </a:r>
          </a:p>
          <a:p>
            <a:r>
              <a:rPr lang="pl-PL" dirty="0"/>
              <a:t>wspierania decyzji biznesowych dotyczących podpisania kontraktu lub wykupu artysty przez </a:t>
            </a:r>
            <a:r>
              <a:rPr lang="pl-PL" dirty="0" err="1"/>
              <a:t>label</a:t>
            </a:r>
            <a:r>
              <a:rPr lang="pl-PL" dirty="0"/>
              <a:t> muzyczny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D05057E-397E-A652-AB58-C2B16F1021A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r>
              <a:rPr lang="pl-PL" dirty="0"/>
              <a:t>1. Obszar biznesowy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B5F4286-6ADB-4C6C-B7B3-FD06ACE5189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/>
          <a:lstStyle/>
          <a:p>
            <a:r>
              <a:rPr lang="en-US" dirty="0"/>
              <a:t>Music Industry Analytic</a:t>
            </a:r>
            <a:r>
              <a:rPr lang="pl-PL" dirty="0"/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73598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D651-8570-59A1-F5DE-F8B037F6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3C7EEB88-7E0C-E20A-9209-072592106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/>
          <a:lstStyle/>
          <a:p>
            <a:r>
              <a:rPr lang="pl-PL" dirty="0" err="1">
                <a:hlinkClick r:id="rId2"/>
              </a:rPr>
              <a:t>Spotify</a:t>
            </a:r>
            <a:r>
              <a:rPr lang="pl-PL" dirty="0">
                <a:hlinkClick r:id="rId2"/>
              </a:rPr>
              <a:t> for Developers</a:t>
            </a:r>
            <a:r>
              <a:rPr lang="pl-PL" dirty="0"/>
              <a:t> </a:t>
            </a:r>
          </a:p>
          <a:p>
            <a:r>
              <a:rPr lang="pl-PL" dirty="0">
                <a:hlinkClick r:id="rId3"/>
              </a:rPr>
              <a:t>Last.fm API</a:t>
            </a:r>
            <a:r>
              <a:rPr lang="pl-PL" dirty="0"/>
              <a:t> </a:t>
            </a:r>
          </a:p>
          <a:p>
            <a:r>
              <a:rPr lang="pl-PL" dirty="0">
                <a:hlinkClick r:id="rId4"/>
              </a:rPr>
              <a:t>Google </a:t>
            </a:r>
            <a:r>
              <a:rPr lang="pl-PL" dirty="0" err="1">
                <a:hlinkClick r:id="rId4"/>
              </a:rPr>
              <a:t>Trends</a:t>
            </a:r>
            <a:r>
              <a:rPr lang="pl-PL" dirty="0"/>
              <a:t> (opcjonalne)</a:t>
            </a:r>
          </a:p>
          <a:p>
            <a:r>
              <a:rPr lang="pl-PL" dirty="0" err="1">
                <a:hlinkClick r:id="rId5"/>
              </a:rPr>
              <a:t>MusicBrainz</a:t>
            </a:r>
            <a:r>
              <a:rPr lang="pl-PL" dirty="0">
                <a:hlinkClick r:id="rId5"/>
              </a:rPr>
              <a:t> API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63D1D9E-574C-F42B-3356-E5B5F5E0F54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r>
              <a:rPr lang="pl-PL" dirty="0"/>
              <a:t>1. Obszar biznesowy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67885D-0A0F-4CA2-C092-A516E7F4647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/>
          <a:lstStyle/>
          <a:p>
            <a:r>
              <a:rPr lang="pl-PL" dirty="0"/>
              <a:t>Źródła Danych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126992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53C585F-D6A6-335B-8297-3833383814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b="1" dirty="0"/>
              <a:t>Główny użytkownik:</a:t>
            </a:r>
          </a:p>
          <a:p>
            <a:pPr lvl="1"/>
            <a:r>
              <a:rPr lang="pl-PL" b="1" dirty="0"/>
              <a:t>Manager A&amp;R / </a:t>
            </a:r>
            <a:r>
              <a:rPr lang="pl-PL" b="1" dirty="0" err="1"/>
              <a:t>Label</a:t>
            </a:r>
            <a:r>
              <a:rPr lang="pl-PL" b="1" dirty="0"/>
              <a:t> muzyczny</a:t>
            </a:r>
          </a:p>
          <a:p>
            <a:r>
              <a:rPr lang="pl-PL" dirty="0"/>
              <a:t>Osoba odpowiedzialna za:</a:t>
            </a:r>
          </a:p>
          <a:p>
            <a:pPr lvl="1"/>
            <a:r>
              <a:rPr lang="pl-PL" dirty="0"/>
              <a:t>wyszukiwanie nowych artystów, </a:t>
            </a:r>
          </a:p>
          <a:p>
            <a:pPr lvl="1"/>
            <a:r>
              <a:rPr lang="pl-PL" dirty="0"/>
              <a:t>ocenę potencjału biznesowego, </a:t>
            </a:r>
          </a:p>
          <a:p>
            <a:pPr lvl="1"/>
            <a:r>
              <a:rPr lang="pl-PL" dirty="0"/>
              <a:t>analizę trendów muzycznych, </a:t>
            </a:r>
          </a:p>
          <a:p>
            <a:pPr lvl="1"/>
            <a:r>
              <a:rPr lang="pl-PL" dirty="0"/>
              <a:t>decyzje dotyczące podpisania kontraktu.</a:t>
            </a:r>
          </a:p>
          <a:p>
            <a:pPr marL="0" indent="0">
              <a:buNone/>
            </a:pPr>
            <a:endParaRPr lang="pl-PL" b="1" dirty="0"/>
          </a:p>
          <a:p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621209F-B816-B4DB-6842-547F48AA975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2. Kto będzie korzystał z systemu?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D4B43F9-670C-B7EF-BA1F-00502F0B71C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Użytkownicy systemu</a:t>
            </a:r>
          </a:p>
        </p:txBody>
      </p:sp>
    </p:spTree>
    <p:extLst>
      <p:ext uri="{BB962C8B-B14F-4D97-AF65-F5344CB8AC3E}">
        <p14:creationId xmlns:p14="http://schemas.microsoft.com/office/powerpoint/2010/main" val="2488219393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8829503-C11E-9D92-182E-399BFDF500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sz="2400" b="1" dirty="0" err="1"/>
              <a:t>Label</a:t>
            </a:r>
            <a:r>
              <a:rPr lang="pl-PL" sz="2400" b="1" dirty="0"/>
              <a:t> muzyczny potrzebuje informacji:</a:t>
            </a:r>
          </a:p>
          <a:p>
            <a:pPr lvl="1"/>
            <a:r>
              <a:rPr lang="pl-PL" dirty="0"/>
              <a:t>którzy artyści obecnie dynamicznie rosną</a:t>
            </a:r>
          </a:p>
          <a:p>
            <a:pPr lvl="1"/>
            <a:r>
              <a:rPr lang="pl-PL" dirty="0"/>
              <a:t>którzy undergroundowi artyści mają potencjał </a:t>
            </a:r>
            <a:r>
              <a:rPr lang="pl-PL" dirty="0" err="1"/>
              <a:t>breakout</a:t>
            </a:r>
            <a:endParaRPr lang="pl-PL" dirty="0"/>
          </a:p>
          <a:p>
            <a:pPr lvl="1"/>
            <a:r>
              <a:rPr lang="pl-PL" dirty="0"/>
              <a:t>które albumy i utwory generują największy wzrost zainteresowania</a:t>
            </a:r>
          </a:p>
          <a:p>
            <a:pPr lvl="1"/>
            <a:r>
              <a:rPr lang="pl-PL" dirty="0"/>
              <a:t>które gatunki muzyczne aktualnie </a:t>
            </a:r>
            <a:r>
              <a:rPr lang="pl-PL" dirty="0" err="1"/>
              <a:t>trendują</a:t>
            </a:r>
            <a:endParaRPr lang="pl-PL" dirty="0"/>
          </a:p>
          <a:p>
            <a:pPr lvl="1"/>
            <a:r>
              <a:rPr lang="pl-PL" dirty="0"/>
              <a:t>czy popularność artysty jest stabilna czy chwilowa</a:t>
            </a:r>
          </a:p>
          <a:p>
            <a:r>
              <a:rPr lang="pl-PL" sz="2400" b="1" dirty="0"/>
              <a:t>Przykładowe pytania analityczne:</a:t>
            </a:r>
          </a:p>
          <a:p>
            <a:pPr lvl="1"/>
            <a:r>
              <a:rPr lang="pl-PL" dirty="0"/>
              <a:t>Którzy artyści osiągnęli największy wzrost popularności w ostatnich 30 dniach? </a:t>
            </a:r>
          </a:p>
          <a:p>
            <a:pPr lvl="1"/>
            <a:r>
              <a:rPr lang="pl-PL" dirty="0"/>
              <a:t>Czy wzrost słuchalności pokrywa się ze wzrostem zainteresowania w Google </a:t>
            </a:r>
            <a:r>
              <a:rPr lang="pl-PL" dirty="0" err="1"/>
              <a:t>Trends</a:t>
            </a:r>
            <a:r>
              <a:rPr lang="pl-PL" dirty="0"/>
              <a:t>? </a:t>
            </a:r>
          </a:p>
          <a:p>
            <a:pPr lvl="1"/>
            <a:r>
              <a:rPr lang="pl-PL" dirty="0"/>
              <a:t>Którzy artyści mają wysoki engagement mimo małej liczby słuchaczy? </a:t>
            </a:r>
          </a:p>
          <a:p>
            <a:pPr lvl="1"/>
            <a:r>
              <a:rPr lang="pl-PL" dirty="0"/>
              <a:t>Jakie gatunki muzyczne obecnie rosną najszybciej?</a:t>
            </a:r>
          </a:p>
          <a:p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F919FAC-FA3D-B392-AF3C-71CF03F11F1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3. Jakich informacji potrzebuje użytkownik?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4A807E3-748E-A98D-61EF-5FF57BF1334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Potrzebne informacje biznesowe</a:t>
            </a:r>
          </a:p>
        </p:txBody>
      </p:sp>
    </p:spTree>
    <p:extLst>
      <p:ext uri="{BB962C8B-B14F-4D97-AF65-F5344CB8AC3E}">
        <p14:creationId xmlns:p14="http://schemas.microsoft.com/office/powerpoint/2010/main" val="3312333816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D552C300-83EF-9B56-8BFB-EB464621C4D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9006097"/>
              </p:ext>
            </p:extLst>
          </p:nvPr>
        </p:nvGraphicFramePr>
        <p:xfrm>
          <a:off x="1008063" y="1557338"/>
          <a:ext cx="11015661" cy="48239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71887">
                  <a:extLst>
                    <a:ext uri="{9D8B030D-6E8A-4147-A177-3AD203B41FA5}">
                      <a16:colId xmlns:a16="http://schemas.microsoft.com/office/drawing/2014/main" val="2896200763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63840468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523721964"/>
                    </a:ext>
                  </a:extLst>
                </a:gridCol>
              </a:tblGrid>
              <a:tr h="74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Źródło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Typ danych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Zakres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899759"/>
                  </a:ext>
                </a:extLst>
              </a:tr>
              <a:tr h="74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Spotify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artyści, albumy, utwory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337580"/>
                  </a:ext>
                </a:extLst>
              </a:tr>
              <a:tr h="1290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Last.fm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JSON/XML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 err="1"/>
                        <a:t>listeners</a:t>
                      </a:r>
                      <a:r>
                        <a:rPr lang="pl-PL" dirty="0"/>
                        <a:t>, </a:t>
                      </a:r>
                      <a:r>
                        <a:rPr lang="pl-PL" dirty="0" err="1"/>
                        <a:t>playcount</a:t>
                      </a:r>
                      <a:r>
                        <a:rPr lang="pl-PL" dirty="0"/>
                        <a:t>, trendy społeczności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407307"/>
                  </a:ext>
                </a:extLst>
              </a:tr>
              <a:tr h="74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Google </a:t>
                      </a:r>
                      <a:r>
                        <a:rPr lang="pl-PL" dirty="0" err="1"/>
                        <a:t>Trends</a:t>
                      </a:r>
                      <a:r>
                        <a:rPr lang="pl-PL" dirty="0"/>
                        <a:t> (opcjonalnie)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CSV/JSON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zainteresowanie wyszukiwaniami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343482"/>
                  </a:ext>
                </a:extLst>
              </a:tr>
              <a:tr h="1290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MusicBrainz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JSON/XML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 err="1"/>
                        <a:t>metadata</a:t>
                      </a:r>
                      <a:r>
                        <a:rPr lang="pl-PL" dirty="0"/>
                        <a:t> i relacje między artystami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55446"/>
                  </a:ext>
                </a:extLst>
              </a:tr>
            </a:tbl>
          </a:graphicData>
        </a:graphic>
      </p:graphicFrame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5DDD311-B644-1EC7-BF66-9A4CA03875E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4. Źródła danych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73E5160-F3D5-7ED6-A751-E9A224B33CC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Źródła danych</a:t>
            </a:r>
          </a:p>
        </p:txBody>
      </p:sp>
    </p:spTree>
    <p:extLst>
      <p:ext uri="{BB962C8B-B14F-4D97-AF65-F5344CB8AC3E}">
        <p14:creationId xmlns:p14="http://schemas.microsoft.com/office/powerpoint/2010/main" val="558985203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B1A8D7C1-864D-1E89-14B5-1BDB90BD4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4680519"/>
          </a:xfrm>
        </p:spPr>
        <p:txBody>
          <a:bodyPr/>
          <a:lstStyle/>
          <a:p>
            <a:r>
              <a:rPr lang="pl-PL" dirty="0"/>
              <a:t>Popularność</a:t>
            </a:r>
          </a:p>
          <a:p>
            <a:r>
              <a:rPr lang="en-US" dirty="0"/>
              <a:t>Followers</a:t>
            </a:r>
            <a:endParaRPr lang="pl-PL" dirty="0"/>
          </a:p>
          <a:p>
            <a:r>
              <a:rPr lang="en-US" dirty="0"/>
              <a:t>Genres</a:t>
            </a:r>
            <a:endParaRPr lang="pl-PL" dirty="0"/>
          </a:p>
          <a:p>
            <a:r>
              <a:rPr lang="en-US" dirty="0" err="1"/>
              <a:t>Albumy</a:t>
            </a:r>
            <a:endParaRPr lang="pl-PL" dirty="0"/>
          </a:p>
          <a:p>
            <a:r>
              <a:rPr lang="pl-PL" dirty="0"/>
              <a:t>Top </a:t>
            </a:r>
            <a:r>
              <a:rPr lang="pl-PL" dirty="0" err="1"/>
              <a:t>tracks</a:t>
            </a:r>
            <a:endParaRPr lang="pl-PL" dirty="0"/>
          </a:p>
          <a:p>
            <a:r>
              <a:rPr lang="en-US" dirty="0"/>
              <a:t>audio metadata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A19F2B-8E5C-8EAE-52F1-82A52987D15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4680519"/>
          </a:xfrm>
        </p:spPr>
        <p:txBody>
          <a:bodyPr/>
          <a:lstStyle/>
          <a:p>
            <a:r>
              <a:rPr lang="pl-PL" dirty="0"/>
              <a:t>liczba słuchaczy</a:t>
            </a:r>
          </a:p>
          <a:p>
            <a:r>
              <a:rPr lang="pl-PL" dirty="0" err="1"/>
              <a:t>Playcount</a:t>
            </a:r>
            <a:endParaRPr lang="pl-PL" dirty="0"/>
          </a:p>
          <a:p>
            <a:r>
              <a:rPr lang="pl-PL" dirty="0"/>
              <a:t>podobni artyści</a:t>
            </a:r>
          </a:p>
          <a:p>
            <a:r>
              <a:rPr lang="pl-PL" dirty="0" err="1"/>
              <a:t>community</a:t>
            </a:r>
            <a:r>
              <a:rPr lang="pl-PL" dirty="0"/>
              <a:t> </a:t>
            </a:r>
            <a:r>
              <a:rPr lang="pl-PL" dirty="0" err="1"/>
              <a:t>tags</a:t>
            </a:r>
            <a:endParaRPr lang="en-US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2D8902A-E8A6-97D6-D35A-E558A0DF4B1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Zakres danych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D0C0BD1-B66E-61F1-EAAD-C07C3552804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</p:spPr>
        <p:txBody>
          <a:bodyPr/>
          <a:lstStyle/>
          <a:p>
            <a:pPr algn="ctr"/>
            <a:r>
              <a:rPr lang="pl-PL" sz="3200" dirty="0" err="1"/>
              <a:t>Spotify</a:t>
            </a:r>
            <a:endParaRPr lang="en-US" sz="3200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9A1F4A3-FBD1-69E0-DB58-B1598396296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</p:spPr>
        <p:txBody>
          <a:bodyPr/>
          <a:lstStyle/>
          <a:p>
            <a:pPr algn="ctr"/>
            <a:r>
              <a:rPr lang="pl-PL" sz="3200" dirty="0"/>
              <a:t>Last.fm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0706164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99F5-B151-43A0-184F-DE282148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0030831-08C5-2388-4049-2967D062B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4680519"/>
          </a:xfrm>
        </p:spPr>
        <p:txBody>
          <a:bodyPr/>
          <a:lstStyle/>
          <a:p>
            <a:r>
              <a:rPr lang="pl-PL" dirty="0"/>
              <a:t>zainteresowanie artystą w czasie</a:t>
            </a:r>
          </a:p>
          <a:p>
            <a:r>
              <a:rPr lang="pl-PL" dirty="0"/>
              <a:t>regionalne trendy</a:t>
            </a:r>
          </a:p>
          <a:p>
            <a:r>
              <a:rPr lang="pl-PL" dirty="0"/>
              <a:t>tempo wzrostu zainteresowania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37683B0-8246-7F33-E260-BC478F49F37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4680519"/>
          </a:xfrm>
        </p:spPr>
        <p:txBody>
          <a:bodyPr/>
          <a:lstStyle/>
          <a:p>
            <a:r>
              <a:rPr lang="pl-PL" dirty="0"/>
              <a:t>identyfikatory artystów</a:t>
            </a:r>
          </a:p>
          <a:p>
            <a:r>
              <a:rPr lang="pl-PL" dirty="0"/>
              <a:t>relacje </a:t>
            </a:r>
            <a:r>
              <a:rPr lang="pl-PL" dirty="0" err="1"/>
              <a:t>artist</a:t>
            </a:r>
            <a:r>
              <a:rPr lang="pl-PL" dirty="0"/>
              <a:t>-album</a:t>
            </a:r>
          </a:p>
          <a:p>
            <a:r>
              <a:rPr lang="pl-PL" dirty="0"/>
              <a:t>Tabele pomocne do normalizacji danych</a:t>
            </a:r>
            <a:endParaRPr lang="en-US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D3C6611-F4E4-681F-430A-1D494B52F83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Zakres danych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190A4E2-3236-0988-A3E7-CF667048715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</p:spPr>
        <p:txBody>
          <a:bodyPr/>
          <a:lstStyle/>
          <a:p>
            <a:pPr algn="ctr"/>
            <a:r>
              <a:rPr lang="pl-PL" sz="3200" dirty="0"/>
              <a:t>Google </a:t>
            </a:r>
            <a:r>
              <a:rPr lang="pl-PL" sz="3200" dirty="0" err="1"/>
              <a:t>Trends</a:t>
            </a:r>
            <a:r>
              <a:rPr lang="pl-PL" sz="3200" dirty="0"/>
              <a:t> (opcjonalnie)</a:t>
            </a:r>
            <a:endParaRPr lang="en-US" sz="3200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3713446-6E69-F103-7065-6BFB23667D5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</p:spPr>
        <p:txBody>
          <a:bodyPr/>
          <a:lstStyle/>
          <a:p>
            <a:pPr algn="ctr"/>
            <a:r>
              <a:rPr lang="pl-PL" sz="3200" dirty="0" err="1"/>
              <a:t>MusicBrainz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870356198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ymbol zastępczy zawartości 7">
            <a:extLst>
              <a:ext uri="{FF2B5EF4-FFF2-40B4-BE49-F238E27FC236}">
                <a16:creationId xmlns:a16="http://schemas.microsoft.com/office/drawing/2014/main" id="{386BA787-1FD3-FFB7-2728-B450B11C2C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7357487"/>
              </p:ext>
            </p:extLst>
          </p:nvPr>
        </p:nvGraphicFramePr>
        <p:xfrm>
          <a:off x="1008063" y="1557338"/>
          <a:ext cx="11015662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07831">
                  <a:extLst>
                    <a:ext uri="{9D8B030D-6E8A-4147-A177-3AD203B41FA5}">
                      <a16:colId xmlns:a16="http://schemas.microsoft.com/office/drawing/2014/main" val="2257925974"/>
                    </a:ext>
                  </a:extLst>
                </a:gridCol>
                <a:gridCol w="5507831">
                  <a:extLst>
                    <a:ext uri="{9D8B030D-6E8A-4147-A177-3AD203B41FA5}">
                      <a16:colId xmlns:a16="http://schemas.microsoft.com/office/drawing/2014/main" val="144486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Źródło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Dynamika zmian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67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Spotify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codziennie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89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Last.fm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codziennie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77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Google Trends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codziennie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186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MusicBrainz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sporadycznie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837719"/>
                  </a:ext>
                </a:extLst>
              </a:tr>
            </a:tbl>
          </a:graphicData>
        </a:graphic>
      </p:graphicFrame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ADC55F9-91E2-5A6A-7921-989DA532247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A7D9532-EEA4-F3DC-202B-2BA6D8211F8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/>
          <a:lstStyle/>
          <a:p>
            <a:r>
              <a:rPr lang="pl-PL" dirty="0"/>
              <a:t>Aktualizacja danych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76856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2D8F5FD-BD90-D356-CD58-A0D9251F5B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	„Dzienna analiza popularności i wzrostu artysty”</a:t>
            </a:r>
          </a:p>
          <a:p>
            <a:pPr marL="0" indent="0">
              <a:buNone/>
            </a:pPr>
            <a:r>
              <a:rPr lang="pl-PL" dirty="0"/>
              <a:t>  </a:t>
            </a:r>
          </a:p>
          <a:p>
            <a:pPr marL="0" indent="0">
              <a:buNone/>
            </a:pPr>
            <a:r>
              <a:rPr lang="pl-PL" dirty="0"/>
              <a:t>Każdy rekord tabeli faktów opisuje:</a:t>
            </a:r>
          </a:p>
          <a:p>
            <a:pPr lvl="1"/>
            <a:r>
              <a:rPr lang="pl-PL" dirty="0"/>
              <a:t>jednego artystę, </a:t>
            </a:r>
          </a:p>
          <a:p>
            <a:pPr lvl="1"/>
            <a:r>
              <a:rPr lang="pl-PL" dirty="0"/>
              <a:t>w konkretnym dniu, </a:t>
            </a:r>
          </a:p>
          <a:p>
            <a:pPr lvl="1"/>
            <a:r>
              <a:rPr lang="pl-PL" dirty="0"/>
              <a:t>wraz z zestawem metryk popularności i trendów.</a:t>
            </a:r>
          </a:p>
          <a:p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73B0F86-BCE9-125F-1619-C71DA108720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5. Główny proces biznesowy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63ED4D1-AFA9-4D11-1541-63BF9AF1903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Główny proces biznesowy</a:t>
            </a:r>
          </a:p>
        </p:txBody>
      </p:sp>
    </p:spTree>
    <p:extLst>
      <p:ext uri="{BB962C8B-B14F-4D97-AF65-F5344CB8AC3E}">
        <p14:creationId xmlns:p14="http://schemas.microsoft.com/office/powerpoint/2010/main" val="1646094692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FE0490B8-8A2E-9A41-5DDB-75D94249A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err="1"/>
              <a:t>Fact_Artist_Daily_Metrics</a:t>
            </a:r>
            <a:endParaRPr lang="en-US" b="1" dirty="0"/>
          </a:p>
          <a:p>
            <a:r>
              <a:rPr lang="en-US" b="1" dirty="0" err="1"/>
              <a:t>Miary</a:t>
            </a:r>
            <a:r>
              <a:rPr lang="en-US" b="1" dirty="0"/>
              <a:t>:</a:t>
            </a:r>
          </a:p>
          <a:p>
            <a:pPr lvl="1"/>
            <a:r>
              <a:rPr lang="en-US" dirty="0" err="1"/>
              <a:t>spotify_popularity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spotify_followers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lastfm_listeners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lastfm_playcount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google_trends_score</a:t>
            </a:r>
            <a:r>
              <a:rPr lang="pl-PL" dirty="0"/>
              <a:t>*</a:t>
            </a:r>
            <a:endParaRPr lang="en-US" dirty="0"/>
          </a:p>
          <a:p>
            <a:pPr lvl="1"/>
            <a:r>
              <a:rPr lang="en-US" dirty="0" err="1"/>
              <a:t>growth_velocity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breakout_score</a:t>
            </a:r>
            <a:endParaRPr lang="en-US" dirty="0"/>
          </a:p>
          <a:p>
            <a:pPr lvl="1"/>
            <a:r>
              <a:rPr lang="pl-PL" dirty="0"/>
              <a:t>I inne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8407CDF-16E4-AD0E-BC69-7F9B8D9850D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D147878-C9B2-D07F-84F2-2D0E4DAAD719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Proponowana tabela faktów</a:t>
            </a:r>
          </a:p>
        </p:txBody>
      </p:sp>
    </p:spTree>
    <p:extLst>
      <p:ext uri="{BB962C8B-B14F-4D97-AF65-F5344CB8AC3E}">
        <p14:creationId xmlns:p14="http://schemas.microsoft.com/office/powerpoint/2010/main" val="2638125378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C47FF99-C575-7F44-B66E-72A90CD09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1800199"/>
          </a:xfrm>
        </p:spPr>
        <p:txBody>
          <a:bodyPr/>
          <a:lstStyle/>
          <a:p>
            <a:r>
              <a:rPr lang="pl-PL" sz="2400" dirty="0"/>
              <a:t>Dzień</a:t>
            </a:r>
          </a:p>
          <a:p>
            <a:r>
              <a:rPr lang="pl-PL" sz="2400" dirty="0"/>
              <a:t>Tydzień</a:t>
            </a:r>
          </a:p>
          <a:p>
            <a:r>
              <a:rPr lang="pl-PL" sz="2400" dirty="0"/>
              <a:t>Miesiąc</a:t>
            </a:r>
          </a:p>
          <a:p>
            <a:r>
              <a:rPr lang="pl-PL" sz="2400" dirty="0"/>
              <a:t>Rok</a:t>
            </a:r>
            <a:endParaRPr lang="en-US" sz="2400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AB9DED3-0C81-2793-5A86-8F3FAE36B317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wrap="square" anchor="ctr">
            <a:normAutofit/>
          </a:bodyPr>
          <a:lstStyle/>
          <a:p>
            <a:r>
              <a:rPr lang="pl-PL" dirty="0"/>
              <a:t>Proponowane wymiary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73125CB-BD1D-CCEA-87A4-1904DB4EEAF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</p:spPr>
        <p:txBody>
          <a:bodyPr/>
          <a:lstStyle/>
          <a:p>
            <a:pPr algn="ctr"/>
            <a:r>
              <a:rPr lang="pl-PL" sz="3200" dirty="0"/>
              <a:t>Wymiar czasu</a:t>
            </a:r>
            <a:endParaRPr lang="en-US" sz="3200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CAF50E6-02D5-B7E4-16AD-547305E2F84B}"/>
              </a:ext>
            </a:extLst>
          </p:cNvPr>
          <p:cNvSpPr txBox="1">
            <a:spLocks/>
          </p:cNvSpPr>
          <p:nvPr/>
        </p:nvSpPr>
        <p:spPr bwMode="auto">
          <a:xfrm>
            <a:off x="1007434" y="3937175"/>
            <a:ext cx="10953504" cy="2228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l-PL" sz="2400" dirty="0"/>
              <a:t>Nazwa</a:t>
            </a:r>
          </a:p>
          <a:p>
            <a:r>
              <a:rPr lang="pl-PL" sz="2400" dirty="0"/>
              <a:t>Kraj</a:t>
            </a:r>
          </a:p>
          <a:p>
            <a:r>
              <a:rPr lang="pl-PL" sz="2400" dirty="0"/>
              <a:t>Gatunek</a:t>
            </a:r>
          </a:p>
          <a:p>
            <a:r>
              <a:rPr lang="pl-PL" sz="2400" dirty="0"/>
              <a:t>Debiut</a:t>
            </a:r>
          </a:p>
          <a:p>
            <a:r>
              <a:rPr lang="pl-PL" sz="2400" dirty="0"/>
              <a:t>Inne metadane*</a:t>
            </a:r>
          </a:p>
          <a:p>
            <a:endParaRPr lang="pl-PL" sz="24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D729C2E-3923-B0DF-5472-1D41F678F47E}"/>
              </a:ext>
            </a:extLst>
          </p:cNvPr>
          <p:cNvSpPr txBox="1">
            <a:spLocks/>
          </p:cNvSpPr>
          <p:nvPr/>
        </p:nvSpPr>
        <p:spPr bwMode="auto">
          <a:xfrm>
            <a:off x="1007433" y="3429000"/>
            <a:ext cx="10953505" cy="50817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45720" rIns="10800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sz="3200" dirty="0"/>
              <a:t>Wymiar artysty</a:t>
            </a:r>
            <a:endParaRPr lang="en-US" sz="3200" kern="0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564E4AF4-D19B-9BEA-EC79-2863CBBE6990}"/>
              </a:ext>
            </a:extLst>
          </p:cNvPr>
          <p:cNvSpPr txBox="1">
            <a:spLocks/>
          </p:cNvSpPr>
          <p:nvPr/>
        </p:nvSpPr>
        <p:spPr bwMode="auto">
          <a:xfrm>
            <a:off x="6560387" y="1628801"/>
            <a:ext cx="5400552" cy="18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l-PL" sz="2400" dirty="0"/>
              <a:t>album </a:t>
            </a:r>
          </a:p>
          <a:p>
            <a:r>
              <a:rPr lang="pl-PL" sz="2400" dirty="0"/>
              <a:t>data wydania </a:t>
            </a:r>
          </a:p>
          <a:p>
            <a:r>
              <a:rPr lang="pl-PL" sz="2400" dirty="0"/>
              <a:t>typ wydania 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77C97C9-4D1C-B043-8B20-7DE10E1405DD}"/>
              </a:ext>
            </a:extLst>
          </p:cNvPr>
          <p:cNvSpPr txBox="1">
            <a:spLocks/>
          </p:cNvSpPr>
          <p:nvPr/>
        </p:nvSpPr>
        <p:spPr bwMode="auto">
          <a:xfrm>
            <a:off x="6560387" y="1120626"/>
            <a:ext cx="5400552" cy="50817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45720" rIns="10800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sz="3200" dirty="0"/>
              <a:t>Wymiar albumu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46955746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2F9AEEE5-A204-1A51-D0CC-9A3F5DDB9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/>
          <a:lstStyle/>
          <a:p>
            <a:pPr marL="0" indent="0" algn="ctr">
              <a:buNone/>
            </a:pPr>
            <a:r>
              <a:rPr lang="pl-PL" b="1" dirty="0"/>
              <a:t>Interaktywny </a:t>
            </a:r>
            <a:r>
              <a:rPr lang="pl-PL" b="1" dirty="0" err="1"/>
              <a:t>dashboard</a:t>
            </a:r>
            <a:r>
              <a:rPr lang="pl-PL" b="1" dirty="0"/>
              <a:t> analityczny danych artystów muzycznych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Dashboard będzie umożliwiał:</a:t>
            </a:r>
          </a:p>
          <a:p>
            <a:r>
              <a:rPr lang="pl-PL" dirty="0"/>
              <a:t>analizę </a:t>
            </a:r>
            <a:r>
              <a:rPr lang="pl-PL" dirty="0" err="1"/>
              <a:t>trendujących</a:t>
            </a:r>
            <a:r>
              <a:rPr lang="pl-PL" dirty="0"/>
              <a:t> artystów</a:t>
            </a:r>
          </a:p>
          <a:p>
            <a:r>
              <a:rPr lang="pl-PL" dirty="0"/>
              <a:t>analizę wzrostu popularności</a:t>
            </a:r>
          </a:p>
          <a:p>
            <a:r>
              <a:rPr lang="pl-PL" dirty="0"/>
              <a:t>porównywanie gatunków muzycznych</a:t>
            </a:r>
          </a:p>
          <a:p>
            <a:r>
              <a:rPr lang="pl-PL" dirty="0"/>
              <a:t>ranking artystów według podanych metryk</a:t>
            </a:r>
          </a:p>
          <a:p>
            <a:pPr marL="0" indent="0" algn="ctr">
              <a:buNone/>
            </a:pPr>
            <a:endParaRPr lang="pl-PL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9F81DC7-3D6F-0450-E2F8-D2AA7CE6111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r>
              <a:rPr lang="pl-PL" dirty="0"/>
              <a:t>7. Co zostanie zaprezentowane na końcu semestru?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86A42A5-D152-59DE-A061-D23D6B7530C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/>
          <a:lstStyle/>
          <a:p>
            <a:r>
              <a:rPr lang="pl-PL" dirty="0"/>
              <a:t>Efekt końcowy projektu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397563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41B219B-AAFB-D6E2-DA81-512121100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ETL w </a:t>
            </a:r>
            <a:r>
              <a:rPr lang="pl-PL" dirty="0" err="1"/>
              <a:t>Pythonie</a:t>
            </a:r>
            <a:r>
              <a:rPr lang="pl-PL" dirty="0"/>
              <a:t> (</a:t>
            </a:r>
            <a:r>
              <a:rPr lang="pl-PL" dirty="0" err="1"/>
              <a:t>requests</a:t>
            </a:r>
            <a:r>
              <a:rPr lang="pl-PL" dirty="0"/>
              <a:t>, </a:t>
            </a:r>
            <a:r>
              <a:rPr lang="pl-PL" dirty="0" err="1"/>
              <a:t>dlt</a:t>
            </a:r>
            <a:r>
              <a:rPr lang="pl-PL" dirty="0"/>
              <a:t> + </a:t>
            </a:r>
            <a:r>
              <a:rPr lang="pl-PL" dirty="0" err="1"/>
              <a:t>Polars</a:t>
            </a:r>
            <a:r>
              <a:rPr lang="pl-PL" dirty="0"/>
              <a:t>, </a:t>
            </a:r>
            <a:r>
              <a:rPr lang="pl-PL" dirty="0" err="1"/>
              <a:t>DuckDB</a:t>
            </a:r>
            <a:r>
              <a:rPr lang="pl-PL" dirty="0"/>
              <a:t>)</a:t>
            </a:r>
          </a:p>
          <a:p>
            <a:pPr lvl="1"/>
            <a:r>
              <a:rPr lang="pl-PL" dirty="0"/>
              <a:t>Dlaczego </a:t>
            </a:r>
            <a:r>
              <a:rPr lang="pl-PL" dirty="0" err="1"/>
              <a:t>Polars</a:t>
            </a:r>
            <a:r>
              <a:rPr lang="pl-PL" dirty="0"/>
              <a:t> &gt; </a:t>
            </a:r>
            <a:r>
              <a:rPr lang="pl-PL" dirty="0" err="1"/>
              <a:t>Pandas</a:t>
            </a:r>
            <a:r>
              <a:rPr lang="pl-PL" dirty="0"/>
              <a:t>: bezpieczeństwo typów, </a:t>
            </a:r>
            <a:r>
              <a:rPr lang="pl-PL" dirty="0" err="1"/>
              <a:t>Lazy</a:t>
            </a:r>
            <a:r>
              <a:rPr lang="pl-PL" dirty="0"/>
              <a:t> </a:t>
            </a:r>
            <a:r>
              <a:rPr lang="pl-PL" dirty="0" err="1"/>
              <a:t>Eval</a:t>
            </a:r>
            <a:r>
              <a:rPr lang="pl-PL" dirty="0"/>
              <a:t>, napisany w </a:t>
            </a:r>
            <a:r>
              <a:rPr lang="pl-PL" dirty="0" err="1"/>
              <a:t>Rust</a:t>
            </a:r>
            <a:r>
              <a:rPr lang="pl-PL" dirty="0"/>
              <a:t> (</a:t>
            </a:r>
            <a:r>
              <a:rPr lang="pl-PL" dirty="0" err="1"/>
              <a:t>goat</a:t>
            </a:r>
            <a:r>
              <a:rPr lang="pl-PL" dirty="0"/>
              <a:t>)</a:t>
            </a:r>
          </a:p>
          <a:p>
            <a:r>
              <a:rPr lang="pl-PL" dirty="0"/>
              <a:t>Orkiestracja - </a:t>
            </a:r>
            <a:r>
              <a:rPr lang="pl-PL" dirty="0" err="1"/>
              <a:t>Airflow</a:t>
            </a:r>
            <a:endParaRPr lang="pl-PL" dirty="0"/>
          </a:p>
          <a:p>
            <a:r>
              <a:rPr lang="pl-PL" dirty="0"/>
              <a:t>Baza (</a:t>
            </a:r>
            <a:r>
              <a:rPr lang="pl-PL" dirty="0" err="1"/>
              <a:t>PostgreSQL</a:t>
            </a:r>
            <a:r>
              <a:rPr lang="pl-PL" dirty="0"/>
              <a:t>)</a:t>
            </a:r>
          </a:p>
          <a:p>
            <a:pPr lvl="1"/>
            <a:r>
              <a:rPr lang="pl-PL" dirty="0"/>
              <a:t>Model gwiazdy</a:t>
            </a:r>
          </a:p>
          <a:p>
            <a:r>
              <a:rPr lang="pl-PL" dirty="0"/>
              <a:t>Dashboard - </a:t>
            </a:r>
            <a:r>
              <a:rPr lang="pl-PL" dirty="0" err="1"/>
              <a:t>PowerBI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02108E4-FE24-25C2-7223-897F193BC35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31F25C0-9039-6C9B-7520-D7F071980FD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Technologie</a:t>
            </a:r>
          </a:p>
        </p:txBody>
      </p:sp>
    </p:spTree>
    <p:extLst>
      <p:ext uri="{BB962C8B-B14F-4D97-AF65-F5344CB8AC3E}">
        <p14:creationId xmlns:p14="http://schemas.microsoft.com/office/powerpoint/2010/main" val="3514688728"/>
      </p:ext>
    </p:extLst>
  </p:cSld>
  <p:clrMapOvr>
    <a:masterClrMapping/>
  </p:clrMapOvr>
  <p:transition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B856210D-DD6E-C58F-AC2A-32CBDD9775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041714" y="1556966"/>
            <a:ext cx="32732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0EDEAE3-9ABC-1C7C-91A1-F43637B1CD5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130F75B-0851-8DC9-95E8-BC3BE350562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Dodatkowe </a:t>
            </a:r>
            <a:r>
              <a:rPr lang="pl-PL" dirty="0" err="1"/>
              <a:t>screeny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9DD86DA-F14D-4BB0-DBFA-A2F142DE5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1464246"/>
            <a:ext cx="3600467" cy="52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50632"/>
      </p:ext>
    </p:extLst>
  </p:cSld>
  <p:clrMapOvr>
    <a:masterClrMapping/>
  </p:clrMapOvr>
  <p:transition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52353ACD-CD69-F08C-A979-EF66FB6F71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034099" y="1484784"/>
            <a:ext cx="4712163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02D032-99EF-2257-DEDC-82D57022CB7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3E4EE91-CC1B-CB7C-5D00-8A837F274C1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Dodatkowe </a:t>
            </a:r>
            <a:r>
              <a:rPr lang="pl-PL" dirty="0" err="1"/>
              <a:t>screeny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BD9E3F3-E752-F916-3AE3-281FF4F2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41" y="1931454"/>
            <a:ext cx="6263675" cy="297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07643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zentacja_16x9_2024_EN_v1.pptx" id="{F5C931F4-DA4F-4909-B1BA-D82F393E5015}" vid="{89C86CC8-0679-45F0-929E-0A1214B0D019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prezentacja_16x9_2024_en_v1</Template>
  <TotalTime>135</TotalTime>
  <Words>811</Words>
  <Application>Microsoft Office PowerPoint</Application>
  <PresentationFormat>Panoramiczny</PresentationFormat>
  <Paragraphs>202</Paragraphs>
  <Slides>16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szablon1-PL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Lepsy (279941)</dc:creator>
  <cp:lastModifiedBy>Mikołaj Lepsy (279941)</cp:lastModifiedBy>
  <cp:revision>3</cp:revision>
  <cp:lastPrinted>2017-02-27T13:04:48Z</cp:lastPrinted>
  <dcterms:created xsi:type="dcterms:W3CDTF">2026-05-12T18:52:26Z</dcterms:created>
  <dcterms:modified xsi:type="dcterms:W3CDTF">2026-05-12T21:07:56Z</dcterms:modified>
</cp:coreProperties>
</file>