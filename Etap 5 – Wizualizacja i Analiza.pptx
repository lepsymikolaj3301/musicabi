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7" r:id="rId7"/>
    <p:sldId id="262" r:id="rId8"/>
    <p:sldId id="265" r:id="rId9"/>
    <p:sldId id="264" r:id="rId10"/>
    <p:sldId id="263" r:id="rId11"/>
    <p:sldId id="266" r:id="rId12"/>
    <p:sldId id="261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D27AAA-838E-2D4F-BCDC-4F42009CD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A049824-32DD-6F65-19D5-02C56A3E3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9ACCDAE-ACB6-CE08-5A6A-A28353F6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02B6CFA-B0A8-D09D-7563-43DE205E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5826B5C-B784-B828-B328-7696E003A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664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3581D6-05D3-D459-B30A-B73B3C22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B05D399-3D29-D6AE-F36A-250F42495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263E8C8-3827-FAB4-3899-DBA70CDC4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79200D1-3057-059D-2FCA-16DDCA56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CF27D65-1E71-E36B-4504-638C71A1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551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5F321C-E5F7-7C3B-419B-5CB5852E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D3F2781-F49C-7210-0512-C21B0DDF0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B6EEF6C-77A4-9635-B0EB-A4B3E99E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CC03CC-EA32-C338-5918-60BE9898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9ABEAC-7620-1B12-8C57-B396A948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29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B6B5E7-AAA7-6B9B-1561-E4A833B0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4CD51F2-DD38-BEE6-3B31-943572E76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90FFD04-2B4C-763B-CEB6-661BD7D1C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ADDBBEA-D3DD-6C05-4ECD-20F3F6CC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AE3133A-6B1B-5A0A-19BB-F46931A8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E22A14A-81F5-682D-2D01-F18CB743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938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2A863B-6E83-0E19-BEC0-FB7F6603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FA8EE73-42B4-71D8-53BA-B19FD3ED7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7F90646-3823-E434-37B2-BEA223D3A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D946627-7B31-BE41-7138-EA7086EFA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CF8B667-4C5E-5D05-CEC1-DE6E22F09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974C61C-E420-0405-2372-D5594F52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1CDD70F-F544-13C7-7A1C-8D6936AC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9A23479-488F-D2F5-9841-2A9E57FA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716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3F80BC-4D57-6CAD-28D5-08C6C92D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1457F33-9B2D-E878-D953-2B693489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243F890-B6A3-6709-73BC-48908546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5BEA719-3CC9-29C0-4E5D-75E7E6B1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978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63F5652-7306-C6D4-5221-DE630E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262A61A-26E9-C6F1-203A-3302E2EC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AEC0253-2DC2-AB2A-9835-B9293D5A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86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4AD781-A9AB-294B-E05D-1BDFB0F1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1F72A1-353E-F55D-658F-3E8F573ED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8D28AE4-9757-8184-4191-C3FAA8C21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04069DD-7DAC-7740-A4A6-5E725492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4BFC0D2-812D-D455-52AE-33FE310C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53C6B8D-8507-AABF-87E7-C20AB8A7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7269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5AFE51-2863-7711-648B-5CCBC036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E1FE06E-1BE8-6349-B1B6-37219E55A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211F35C-D5FC-C916-D7B4-1A953B4B5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653729B-6ADF-5646-0F2C-CEA904A03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A44F88C-77BF-50C3-2A93-2A5F1514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D23E968-8348-823D-5047-F383D325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459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587D99-F144-B948-DD62-58F65EC8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D60D8FD-1A6B-0ADE-145E-C3F158041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7BCC6E-2DC6-F2A2-EBEC-77F326EF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A19BBE8-1794-B0DB-7096-517C38C9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CAB888D-DE7B-4615-D537-2C884F6B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027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6F31165-8B2F-25D6-58B6-39CEB2304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0AB453B-44F6-EEEE-8D02-FEDA51AEC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F5029B5-01E3-B139-6028-6F5749E3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D86DFD7-7A55-941E-CF15-D6418DDF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9DFE4A-8B70-7728-B713-9233D765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977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F050B24E-A105-B420-0F2C-DF354BC0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856843A-729A-0869-39EE-39F9E910C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081869C-C195-49E9-BDCA-6177EED99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FE93D-133A-4152-A85F-75CA49F59CA1}" type="datetimeFigureOut">
              <a:rPr lang="pl-PL" smtClean="0"/>
              <a:t>10.06.2026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7E77A4F-A49B-3EA5-EBE6-B652EB9BA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31D23EC-1223-21FD-63AB-C07CE073D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1C903-716E-4EB7-B0FD-DE8ECBA2C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900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D414DE-9696-356F-A267-D477DC2E5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264" y="1112531"/>
            <a:ext cx="9409471" cy="2387600"/>
          </a:xfrm>
        </p:spPr>
        <p:txBody>
          <a:bodyPr/>
          <a:lstStyle/>
          <a:p>
            <a:r>
              <a:rPr lang="pl-PL" dirty="0"/>
              <a:t>Etap 5 – Wizualizacja i Analiza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6D1545D-EA6B-02AB-67D6-E0D92E6A2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/>
              <a:t>MusicaBI</a:t>
            </a:r>
            <a:r>
              <a:rPr lang="pl-PL" dirty="0"/>
              <a:t> - Dashboard dla A&amp;R Managera</a:t>
            </a:r>
          </a:p>
          <a:p>
            <a:br>
              <a:rPr lang="pl-PL" dirty="0"/>
            </a:br>
            <a:r>
              <a:rPr lang="pl-PL" dirty="0"/>
              <a:t>Paola Jaroń, Weronika Kaźmierczak, Mikołaj </a:t>
            </a:r>
            <a:r>
              <a:rPr lang="pl-PL" dirty="0" err="1"/>
              <a:t>Lepsy</a:t>
            </a:r>
            <a:r>
              <a:rPr lang="pl-PL" dirty="0"/>
              <a:t>, Adam </a:t>
            </a:r>
            <a:r>
              <a:rPr lang="pl-PL" dirty="0" err="1"/>
              <a:t>Basiewicz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22568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>
            <a:extLst>
              <a:ext uri="{FF2B5EF4-FFF2-40B4-BE49-F238E27FC236}">
                <a16:creationId xmlns:a16="http://schemas.microsoft.com/office/drawing/2014/main" id="{1D6EAC26-8B55-D5E1-D0CB-20FB66C7A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9536" y="1965709"/>
            <a:ext cx="7796981" cy="292658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pl-PL" sz="3200" dirty="0"/>
              <a:t>Zapytania OLAP (10)</a:t>
            </a:r>
          </a:p>
          <a:p>
            <a:pPr marL="457200" indent="-457200" algn="l">
              <a:buFont typeface="+mj-lt"/>
              <a:buAutoNum type="arabicPeriod"/>
            </a:pPr>
            <a:r>
              <a:rPr lang="pl-PL" sz="3200" dirty="0"/>
              <a:t>Projektowanie </a:t>
            </a:r>
            <a:r>
              <a:rPr lang="pl-PL" sz="3200" dirty="0" err="1"/>
              <a:t>dashboarda</a:t>
            </a:r>
            <a:endParaRPr lang="pl-PL" sz="3200" dirty="0"/>
          </a:p>
          <a:p>
            <a:pPr marL="457200" indent="-457200" algn="l">
              <a:buFont typeface="+mj-lt"/>
              <a:buAutoNum type="arabicPeriod"/>
            </a:pPr>
            <a:r>
              <a:rPr lang="pl-PL" sz="3200" dirty="0"/>
              <a:t>Implementacja do PBI</a:t>
            </a:r>
          </a:p>
          <a:p>
            <a:pPr marL="457200" indent="-457200" algn="l">
              <a:buFont typeface="+mj-lt"/>
              <a:buAutoNum type="arabicPeriod"/>
            </a:pPr>
            <a:r>
              <a:rPr lang="pl-PL" sz="3200" dirty="0"/>
              <a:t>Scenariusz użycia i ocena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6573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0E38C-5BDF-B885-4EF6-6CFAC672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150D91-D392-1001-A0DB-3BA6657E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4075"/>
            <a:ext cx="10515600" cy="1325563"/>
          </a:xfrm>
        </p:spPr>
        <p:txBody>
          <a:bodyPr/>
          <a:lstStyle/>
          <a:p>
            <a:r>
              <a:rPr lang="pl-PL" dirty="0"/>
              <a:t>OLAP – pytania 1 do 5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2CB56E-2C86-998B-71FC-722738BDB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2F396AE-FBBA-E463-1731-0D8D00E85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575528"/>
              </p:ext>
            </p:extLst>
          </p:nvPr>
        </p:nvGraphicFramePr>
        <p:xfrm>
          <a:off x="157316" y="681037"/>
          <a:ext cx="6017342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014">
                  <a:extLst>
                    <a:ext uri="{9D8B030D-6E8A-4147-A177-3AD203B41FA5}">
                      <a16:colId xmlns:a16="http://schemas.microsoft.com/office/drawing/2014/main" val="3465310442"/>
                    </a:ext>
                  </a:extLst>
                </a:gridCol>
                <a:gridCol w="2004164">
                  <a:extLst>
                    <a:ext uri="{9D8B030D-6E8A-4147-A177-3AD203B41FA5}">
                      <a16:colId xmlns:a16="http://schemas.microsoft.com/office/drawing/2014/main" val="609061736"/>
                    </a:ext>
                  </a:extLst>
                </a:gridCol>
                <a:gridCol w="2004164">
                  <a:extLst>
                    <a:ext uri="{9D8B030D-6E8A-4147-A177-3AD203B41FA5}">
                      <a16:colId xmlns:a16="http://schemas.microsoft.com/office/drawing/2014/main" val="1999214380"/>
                    </a:ext>
                  </a:extLst>
                </a:gridCol>
              </a:tblGrid>
              <a:tr h="215435"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Pytanie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Czy zrobione?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 err="1"/>
                        <a:t>Odp</a:t>
                      </a:r>
                      <a:endParaRPr lang="pl-P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909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Którzy artyści osiągnęli największy wzrost liczby słuchaczy na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Spotify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 ostatnich 30 dniach?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i="1" dirty="0"/>
                        <a:t>zmienione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Mamy kolumnę </a:t>
                      </a:r>
                      <a:r>
                        <a:rPr lang="pl-PL" sz="1200" dirty="0" err="1"/>
                        <a:t>growth_velocity</a:t>
                      </a:r>
                      <a:r>
                        <a:rPr lang="pl-PL" sz="1200" dirty="0"/>
                        <a:t> z Last.fm </a:t>
                      </a:r>
                    </a:p>
                    <a:p>
                      <a:pPr algn="ctr"/>
                      <a:r>
                        <a:rPr lang="pl-PL" sz="1200" dirty="0"/>
                        <a:t>(</a:t>
                      </a:r>
                      <a:r>
                        <a:rPr lang="pl-PL" sz="1200" dirty="0" err="1"/>
                        <a:t>Spotify</a:t>
                      </a:r>
                      <a:r>
                        <a:rPr lang="pl-PL" sz="1200" dirty="0"/>
                        <a:t> usunął </a:t>
                      </a:r>
                      <a:r>
                        <a:rPr lang="pl-PL" sz="1200" dirty="0" err="1"/>
                        <a:t>popularity</a:t>
                      </a:r>
                      <a:r>
                        <a:rPr lang="pl-PL" sz="1200" dirty="0"/>
                        <a:t> z API w 2024)</a:t>
                      </a:r>
                    </a:p>
                    <a:p>
                      <a:pPr algn="ctr"/>
                      <a:r>
                        <a:rPr lang="pl-PL" sz="1200" dirty="0"/>
                        <a:t>+ nie mamy danych z aż 30 dni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86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Którzy undergroundowi artyści wykazują najwyższy wskaźnik zaangażowania (engagement) mimo małej liczby słuchaczy?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TAK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Mamy </a:t>
                      </a:r>
                      <a:r>
                        <a:rPr lang="pl-PL" sz="1200" dirty="0" err="1"/>
                        <a:t>breakout</a:t>
                      </a:r>
                      <a:r>
                        <a:rPr lang="pl-PL" sz="1200" dirty="0"/>
                        <a:t> </a:t>
                      </a:r>
                      <a:r>
                        <a:rPr lang="pl-PL" sz="1200" dirty="0" err="1"/>
                        <a:t>score</a:t>
                      </a:r>
                      <a:r>
                        <a:rPr lang="pl-PL" sz="1200" dirty="0"/>
                        <a:t>  = 7</a:t>
                      </a:r>
                      <a:r>
                        <a:rPr lang="de-DE" sz="1200" dirty="0"/>
                        <a:t>0% </a:t>
                      </a:r>
                      <a:r>
                        <a:rPr lang="de-DE" sz="1200" dirty="0" err="1"/>
                        <a:t>wzrost</a:t>
                      </a:r>
                      <a:r>
                        <a:rPr lang="de-DE" sz="1200" dirty="0"/>
                        <a:t> + 30% inverse rank</a:t>
                      </a:r>
                      <a:endParaRPr lang="pl-P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80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Jak kształtuje się miesięczny wzrost liczby słuchaczy Last.fm dla 10 najszybciej rosnących artystów w podziale na gatunki muzyczne?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TAK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 err="1"/>
                        <a:t>lastfm_listeners</a:t>
                      </a:r>
                      <a:r>
                        <a:rPr lang="pl-PL" sz="1200" dirty="0"/>
                        <a:t> + </a:t>
                      </a:r>
                      <a:r>
                        <a:rPr lang="pl-PL" sz="1200" dirty="0" err="1"/>
                        <a:t>dim_genre</a:t>
                      </a:r>
                      <a:r>
                        <a:rPr lang="pl-PL" sz="1200" dirty="0"/>
                        <a:t> + </a:t>
                      </a:r>
                      <a:r>
                        <a:rPr lang="pl-PL" sz="1200" dirty="0" err="1"/>
                        <a:t>dim_date</a:t>
                      </a:r>
                      <a:r>
                        <a:rPr lang="pl-PL" sz="1200" dirty="0"/>
                        <a:t>[</a:t>
                      </a:r>
                      <a:r>
                        <a:rPr lang="pl-PL" sz="1200" dirty="0" err="1"/>
                        <a:t>month</a:t>
                      </a:r>
                      <a:r>
                        <a:rPr lang="pl-PL" sz="1200" dirty="0"/>
                        <a:t>] = </a:t>
                      </a:r>
                      <a:r>
                        <a:rPr lang="pl-PL" sz="1200" dirty="0" err="1"/>
                        <a:t>Listener</a:t>
                      </a:r>
                      <a:r>
                        <a:rPr lang="pl-PL" sz="1200" dirty="0"/>
                        <a:t> </a:t>
                      </a:r>
                      <a:r>
                        <a:rPr lang="pl-PL" sz="1200" dirty="0" err="1"/>
                        <a:t>Trends</a:t>
                      </a:r>
                      <a:endParaRPr lang="pl-P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575490"/>
                  </a:ext>
                </a:extLst>
              </a:tr>
              <a:tr h="601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Czy wzrost popularności artysty na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Spotify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pokrywa się ze wzrostem zainteresowania w Google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Trends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dla jakich artystów odnotowujemy największą korelację?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 err="1"/>
                        <a:t>spotify_popularity</a:t>
                      </a:r>
                      <a:r>
                        <a:rPr lang="pl-PL" sz="1200" dirty="0"/>
                        <a:t> usunięte z API w 2024 + jednak nie używaliśmy Google </a:t>
                      </a:r>
                      <a:r>
                        <a:rPr lang="pl-PL" sz="1200" dirty="0" err="1"/>
                        <a:t>Trends</a:t>
                      </a:r>
                      <a:endParaRPr lang="pl-P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311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Które gatunki muzyczne rosły najszybciej w każdym kwartale ubiegłego roku, mierzone medianą wzrostu liczby słuchaczy?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i="1" dirty="0"/>
                        <a:t>zmienione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Nie mamy kwartalnie ( brak danych ) tylko z ostatniego okresu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968890"/>
                  </a:ext>
                </a:extLst>
              </a:tr>
            </a:tbl>
          </a:graphicData>
        </a:graphic>
      </p:graphicFrame>
      <p:pic>
        <p:nvPicPr>
          <p:cNvPr id="8" name="Obraz 7">
            <a:extLst>
              <a:ext uri="{FF2B5EF4-FFF2-40B4-BE49-F238E27FC236}">
                <a16:creationId xmlns:a16="http://schemas.microsoft.com/office/drawing/2014/main" id="{A3808BE3-EF57-CE5F-C5AD-3A64358F9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974" y="3533661"/>
            <a:ext cx="5860026" cy="3153237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827652C3-7ABE-5787-5E48-8E7DC7105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611" y="171102"/>
            <a:ext cx="5922389" cy="3309046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B059EAC1-8EF5-8F60-D146-8EA6378E7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974" y="2112573"/>
            <a:ext cx="5887252" cy="243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1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9FCC1F-13B4-0ABC-04A9-AEF746BE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402"/>
            <a:ext cx="10515600" cy="1325563"/>
          </a:xfrm>
        </p:spPr>
        <p:txBody>
          <a:bodyPr/>
          <a:lstStyle/>
          <a:p>
            <a:r>
              <a:rPr lang="pl-PL" dirty="0"/>
              <a:t>OLAP – pytania 6 do 10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86C20D-A876-852E-C95F-DCE36CD57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03EF3CF-316C-C240-1E03-3D1B02F3C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60793"/>
              </p:ext>
            </p:extLst>
          </p:nvPr>
        </p:nvGraphicFramePr>
        <p:xfrm>
          <a:off x="137652" y="755956"/>
          <a:ext cx="7334863" cy="5661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543">
                  <a:extLst>
                    <a:ext uri="{9D8B030D-6E8A-4147-A177-3AD203B41FA5}">
                      <a16:colId xmlns:a16="http://schemas.microsoft.com/office/drawing/2014/main" val="3465310442"/>
                    </a:ext>
                  </a:extLst>
                </a:gridCol>
                <a:gridCol w="2433160">
                  <a:extLst>
                    <a:ext uri="{9D8B030D-6E8A-4147-A177-3AD203B41FA5}">
                      <a16:colId xmlns:a16="http://schemas.microsoft.com/office/drawing/2014/main" val="609061736"/>
                    </a:ext>
                  </a:extLst>
                </a:gridCol>
                <a:gridCol w="2433160">
                  <a:extLst>
                    <a:ext uri="{9D8B030D-6E8A-4147-A177-3AD203B41FA5}">
                      <a16:colId xmlns:a16="http://schemas.microsoft.com/office/drawing/2014/main" val="1999214380"/>
                    </a:ext>
                  </a:extLst>
                </a:gridCol>
              </a:tblGrid>
              <a:tr h="366937"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Pytanie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Czy zrobione?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 err="1"/>
                        <a:t>Odp</a:t>
                      </a:r>
                      <a:endParaRPr lang="pl-P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909656"/>
                  </a:ext>
                </a:extLst>
              </a:tr>
              <a:tr h="8561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Które albumy wydane w ciągu ostatnich 12 miesięcy wygenerowały największy, trwały wzrost zainteresowania artystą – mierzony wzrostem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playcount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30, 60 i 90 dni po premierze?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i="1" dirty="0"/>
                        <a:t>zmienione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/>
                        <a:t>Nie mamy </a:t>
                      </a:r>
                      <a:r>
                        <a:rPr lang="pl-PL" sz="1200" dirty="0" err="1"/>
                        <a:t>daych</a:t>
                      </a:r>
                      <a:r>
                        <a:rPr lang="pl-PL" sz="1200" dirty="0"/>
                        <a:t> historycznych + przez problem z tabelą faktów, nie mamy odpowiedniego połączenia. Aktualnie wygląda tak:</a:t>
                      </a:r>
                      <a:br>
                        <a:rPr lang="pl-PL" sz="1200" dirty="0"/>
                      </a:br>
                      <a:r>
                        <a:rPr lang="pl-PL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dim_album</a:t>
                      </a:r>
                      <a:r>
                        <a:rPr lang="pl-PL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pl-PL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artist_id</a:t>
                      </a:r>
                      <a:r>
                        <a:rPr lang="pl-PL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→ </a:t>
                      </a:r>
                      <a:r>
                        <a:rPr lang="pl-PL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dim_artist</a:t>
                      </a:r>
                      <a:r>
                        <a:rPr lang="pl-PL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pl-PL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artist_id</a:t>
                      </a:r>
                      <a:r>
                        <a:rPr lang="pl-PL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→ </a:t>
                      </a:r>
                      <a:r>
                        <a:rPr lang="pl-PL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</a:t>
                      </a:r>
                      <a:r>
                        <a:rPr lang="pl-PL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pl-PL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artist_id</a:t>
                      </a:r>
                      <a:r>
                        <a:rPr lang="pl-PL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865676"/>
                  </a:ext>
                </a:extLst>
              </a:tr>
              <a:tr h="11008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 jakich krajach dany artysta generuje największe zainteresowanie w Google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Trends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 czy odpowiada ono jego pozycji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streamingowej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Google </a:t>
                      </a:r>
                      <a:r>
                        <a:rPr lang="pl-PL" sz="1200" dirty="0" err="1"/>
                        <a:t>Trends</a:t>
                      </a:r>
                      <a:r>
                        <a:rPr lang="pl-PL" sz="1200" dirty="0"/>
                        <a:t> jednak nie używaliśmy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802238"/>
                  </a:ext>
                </a:extLst>
              </a:tr>
              <a:tr h="795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Którzy artyści utrzymują stabilnie wysoką popularność przez ponad 6 miesięcy, a nie tylko chwilowy trend?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 err="1"/>
                        <a:t>Spotify-popularity</a:t>
                      </a:r>
                      <a:r>
                        <a:rPr lang="pl-PL" sz="1200" dirty="0"/>
                        <a:t> usunięte w 2024 z API + mieliśmy dane tylko sprzed 15 dni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575490"/>
                  </a:ext>
                </a:extLst>
              </a:tr>
              <a:tr h="10813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Którzy artyści z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tagiem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'underground' w Last.fm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community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przekroczyli próg 100 tys. słuchaczy miesięcznie w ciągu ostatnich 6 miesięcy?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i="1" dirty="0"/>
                        <a:t>zmienione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Działa, ale nie mamy danych z 6 miesięcy tylko 15 dni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311240"/>
                  </a:ext>
                </a:extLst>
              </a:tr>
              <a:tr h="11008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Jakie jest zestawienie top 20 artystów według </a:t>
                      </a:r>
                      <a:r>
                        <a:rPr lang="pl-PL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breakout_score</a:t>
                      </a:r>
                      <a:r>
                        <a:rPr lang="pl-PL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 bieżącym miesiącu, z podziałem na gatunek muzyczny i kraj pochodzenia?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TAK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Mamy tabelkę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968890"/>
                  </a:ext>
                </a:extLst>
              </a:tr>
            </a:tbl>
          </a:graphicData>
        </a:graphic>
      </p:graphicFrame>
      <p:pic>
        <p:nvPicPr>
          <p:cNvPr id="8" name="Obraz 7">
            <a:extLst>
              <a:ext uri="{FF2B5EF4-FFF2-40B4-BE49-F238E27FC236}">
                <a16:creationId xmlns:a16="http://schemas.microsoft.com/office/drawing/2014/main" id="{9E9C9BB6-AE00-F264-B6B5-98909EB3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505" y="4835547"/>
            <a:ext cx="4884843" cy="1867062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14AC2347-BDD3-F986-2AF3-C7BBB1343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051" y="2184460"/>
            <a:ext cx="4292760" cy="2489080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E16D066F-F7A8-68ED-B0DD-B79CF06BC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491" y="68741"/>
            <a:ext cx="3939881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6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F0E841-B837-472B-0950-58491678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Użytkownik docelowy </a:t>
            </a:r>
            <a:r>
              <a:rPr lang="pl-PL" dirty="0">
                <a:sym typeface="Wingdings" panose="05000000000000000000" pitchFamily="2" charset="2"/>
              </a:rPr>
              <a:t> A&amp;R Manager 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ECAF43-F2FE-965D-959E-8FB16E319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dirty="0"/>
              <a:t>Osoba odpowiedzialna za wyszukiwanie nowych artystów, ocenę ich potencjału biznesowego, analizę trendów muzycznych oraz podejmowanie decyzji o podpisaniu kontraktu lub inwestycji w artystę.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Cele użytkownika: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Z kim podpisać umowę?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Które gatunki właśnie rosną?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Skąd geograficznie wychodzą wschodzący artyści?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Jak rośnie konkretny artysta którego obserwuję?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Kto rośnie szybko mimo małej bazy fanów?</a:t>
            </a:r>
          </a:p>
        </p:txBody>
      </p:sp>
    </p:spTree>
    <p:extLst>
      <p:ext uri="{BB962C8B-B14F-4D97-AF65-F5344CB8AC3E}">
        <p14:creationId xmlns:p14="http://schemas.microsoft.com/office/powerpoint/2010/main" val="71421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D845BF-8A09-0DA7-5B02-B0B8BD73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KIM są top artyści → JAK rosną → SKĄD pochodzą → W JAKIM gatunku działają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C0E9A7-ED6F-F333-3729-9CB5D152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A34363A-B4C1-F220-5896-5C1D63B79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14490"/>
              </p:ext>
            </p:extLst>
          </p:nvPr>
        </p:nvGraphicFramePr>
        <p:xfrm>
          <a:off x="648929" y="1825625"/>
          <a:ext cx="11080956" cy="477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652">
                  <a:extLst>
                    <a:ext uri="{9D8B030D-6E8A-4147-A177-3AD203B41FA5}">
                      <a16:colId xmlns:a16="http://schemas.microsoft.com/office/drawing/2014/main" val="3346944879"/>
                    </a:ext>
                  </a:extLst>
                </a:gridCol>
                <a:gridCol w="3693652">
                  <a:extLst>
                    <a:ext uri="{9D8B030D-6E8A-4147-A177-3AD203B41FA5}">
                      <a16:colId xmlns:a16="http://schemas.microsoft.com/office/drawing/2014/main" val="2944900930"/>
                    </a:ext>
                  </a:extLst>
                </a:gridCol>
                <a:gridCol w="3693652">
                  <a:extLst>
                    <a:ext uri="{9D8B030D-6E8A-4147-A177-3AD203B41FA5}">
                      <a16:colId xmlns:a16="http://schemas.microsoft.com/office/drawing/2014/main" val="2572383127"/>
                    </a:ext>
                  </a:extLst>
                </a:gridCol>
              </a:tblGrid>
              <a:tr h="596477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Typ wiadomości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Typ wykresu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Kiedy używamy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494962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964700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831013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73060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8013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790875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18307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75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30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A05943-13A6-EBE9-79FE-BA2CA8F4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8CC7831-551E-91BA-ABD2-A08EF512F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12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87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8FFA566-FBF1-DB27-CB6E-8B98CCEF3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242"/>
            <a:ext cx="12192000" cy="692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28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5BABB7F0-8111-5746-0A05-FFA37A6B4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1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C0237CB1-AA4E-50E6-C11C-5DC0AE6C4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1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1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B4DF04-4F54-CF08-0FE2-62A1046D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Przykładowy scenariusz użytkownika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2AE1727-3DCC-15C8-7867-2B6F8A615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339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5A9D5A-193A-4E6E-0340-091BA310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i </a:t>
            </a:r>
            <a:r>
              <a:rPr lang="pl-PL"/>
              <a:t>ocena użyteczności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10A85AC-0E9B-94F9-946F-F4F572C2C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556076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528</Words>
  <Application>Microsoft Office PowerPoint</Application>
  <PresentationFormat>Panoramiczny</PresentationFormat>
  <Paragraphs>65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Motyw pakietu Office</vt:lpstr>
      <vt:lpstr>Etap 5 – Wizualizacja i Analiza</vt:lpstr>
      <vt:lpstr>Prezentacja programu PowerPoint</vt:lpstr>
      <vt:lpstr>OLAP – pytania 1 do 5</vt:lpstr>
      <vt:lpstr>OLAP – pytania 6 do 10</vt:lpstr>
      <vt:lpstr>Użytkownik docelowy  A&amp;R Manager </vt:lpstr>
      <vt:lpstr>KIM są top artyści → JAK rosną → SKĄD pochodzą → W JAKIM gatunku działają</vt:lpstr>
      <vt:lpstr>Prezentacja programu PowerPoint</vt:lpstr>
      <vt:lpstr>Prezentacja programu PowerPoint</vt:lpstr>
      <vt:lpstr>Prezentacja programu PowerPoint</vt:lpstr>
      <vt:lpstr>Prezentacja programu PowerPoint</vt:lpstr>
      <vt:lpstr>Przykładowy scenariusz użytkownika</vt:lpstr>
      <vt:lpstr>Opis i ocena użyteczności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Weronika Kaźmierczak (279897)</dc:creator>
  <cp:lastModifiedBy>Weronika Kaźmierczak (279897)</cp:lastModifiedBy>
  <cp:revision>2</cp:revision>
  <dcterms:created xsi:type="dcterms:W3CDTF">2026-06-10T07:36:11Z</dcterms:created>
  <dcterms:modified xsi:type="dcterms:W3CDTF">2026-06-10T09:22:06Z</dcterms:modified>
</cp:coreProperties>
</file>